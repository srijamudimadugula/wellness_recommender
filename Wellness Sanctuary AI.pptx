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4.jpg"/><Relationship Id="rId5" Type="http://schemas.openxmlformats.org/officeDocument/2006/relationships/image" Target="../media/image10.png"/><Relationship Id="rId6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7.jpg"/><Relationship Id="rId5" Type="http://schemas.openxmlformats.org/officeDocument/2006/relationships/image" Target="../media/image33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237" y="4119413"/>
            <a:ext cx="3057525" cy="62671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423912" y="1584447"/>
            <a:ext cx="7401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Wellness Sanctuary</a:t>
            </a:r>
            <a:endParaRPr sz="6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544384" y="2944225"/>
            <a:ext cx="91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6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Adaptive</a:t>
            </a:r>
            <a:r>
              <a:rPr lang="en-US" sz="2600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wellness </a:t>
            </a:r>
            <a:r>
              <a:rPr i="0" lang="en-US" sz="26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 System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471575" y="4463075"/>
            <a:ext cx="89754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Student:</a:t>
            </a:r>
            <a:r>
              <a:rPr i="0" lang="en-US" sz="24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 Srija  </a:t>
            </a:r>
            <a:endParaRPr sz="2400">
              <a:solidFill>
                <a:srgbClr val="4B5A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Mentor:</a:t>
            </a:r>
            <a:r>
              <a:rPr i="0" lang="en-US" sz="24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Kartik Gupta</a:t>
            </a:r>
            <a:endParaRPr i="0" sz="2400" u="none" cap="none" strike="noStrike">
              <a:solidFill>
                <a:srgbClr val="4B5A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in AI Indian Institute of Technology Ropar</a:t>
            </a:r>
            <a:endParaRPr sz="2400">
              <a:solidFill>
                <a:srgbClr val="4B5A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the-hidden-stressors-of-technology-4783960-nologo-3fd7f606f5884390a9a098a89626af6a.jpg"/>
          <p:cNvPicPr preferRelativeResize="0"/>
          <p:nvPr/>
        </p:nvPicPr>
        <p:blipFill rotWithShape="1">
          <a:blip r:embed="rId4">
            <a:alphaModFix/>
          </a:blip>
          <a:srcRect b="0" l="3746" r="3755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000050" y="2576420"/>
            <a:ext cx="4857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Fatigue: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High-stress states lower mental energy; scrolling increases anxiety.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000125" y="3474839"/>
            <a:ext cx="4857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Gap: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Searching "I'm angry" on YouTube yields rants, not relief.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000125" y="4383285"/>
            <a:ext cx="4857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Discovery Barriers: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Mainstream AI ignores </a:t>
            </a:r>
            <a:r>
              <a:rPr i="1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intent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i="1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keywords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68" name="Google Shape;6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044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" name="Google Shape;6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12939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762000" y="571500"/>
            <a:ext cx="1140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 The Discovery Crisis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8FB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888425" y="1389400"/>
            <a:ext cx="9388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" name="Google Shape;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0290"/>
            <a:ext cx="3492549" cy="273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" name="Google Shape;7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60290"/>
            <a:ext cx="3492549" cy="273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" name="Google Shape;8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60290"/>
            <a:ext cx="3492549" cy="273739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894337" y="3502790"/>
            <a:ext cx="28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Curated Flows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962125" y="3895640"/>
            <a:ext cx="271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Domain-restricted filtering for Hatha, Vinyasa, and Restorative Yoga.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83" name="Google Shape;8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45875" y="295081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4672537" y="3665190"/>
            <a:ext cx="28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Meditation Mapping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740374" y="4051390"/>
            <a:ext cx="271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Grounding intense emotions (Anger/Fear) via targeted breathwork.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86" name="Google Shape;8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4749" y="295081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8450836" y="3530340"/>
            <a:ext cx="28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Zero-Search UI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8518624" y="3941415"/>
            <a:ext cx="271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intent-to-video mapping to eliminate scrolling friction.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762000" y="571500"/>
            <a:ext cx="1140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 The Yoga-First Bridge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8FB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431800" y="1662550"/>
            <a:ext cx="910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50">
                <a:solidFill>
                  <a:srgbClr val="4A6741"/>
                </a:solidFill>
                <a:highlight>
                  <a:srgbClr val="F7FAF7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“We cannot direct the wind🍃, but we can adjust the sails⛵.”</a:t>
            </a:r>
            <a:endParaRPr b="1" sz="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 title="wellness_sanctuary_architecture_flowchart_1768590195784.png"/>
          <p:cNvPicPr preferRelativeResize="0"/>
          <p:nvPr/>
        </p:nvPicPr>
        <p:blipFill rotWithShape="1">
          <a:blip r:embed="rId5">
            <a:alphaModFix/>
          </a:blip>
          <a:srcRect b="14064" l="0" r="0" t="14064"/>
          <a:stretch/>
        </p:blipFill>
        <p:spPr>
          <a:xfrm>
            <a:off x="5505600" y="1491850"/>
            <a:ext cx="6058975" cy="487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647700" y="2024040"/>
            <a:ext cx="485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Intake: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NLP-driven emotion detection.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647700" y="2616026"/>
            <a:ext cx="485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Refinement: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KeyBERT stressor extraction.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647700" y="3208012"/>
            <a:ext cx="485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Retrieval: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Context-aware YouTube API calls.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647700" y="3870648"/>
            <a:ext cx="485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Personalization: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Bayesian Bandits (LinUCB).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Design: Hybrid Bayesian AI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8FB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21572"/>
            <a:ext cx="11049000" cy="887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350" y="2248954"/>
            <a:ext cx="5286375" cy="2186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63" y="2248941"/>
            <a:ext cx="5286375" cy="2186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771450" y="4910799"/>
            <a:ext cx="10649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 "I feel overwhelmed by my deadlines" </a:t>
            </a:r>
            <a:b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Emotion: </a:t>
            </a: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Fear/Sad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Stressor: </a:t>
            </a: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Deadlines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962025" y="2833416"/>
            <a:ext cx="473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19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A67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DistilBERT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962025" y="3353850"/>
            <a:ext cx="3939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High-speed classification of 6 core emotional classes with minimal latency.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6994425" y="2639468"/>
            <a:ext cx="473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19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A67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KeyBERT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6724650" y="3353841"/>
            <a:ext cx="45054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Extracting specific stressors (e.g., "exams", "work") to refine the yoga intensity.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118" name="Google Shape;11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76462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63946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762000" y="571500"/>
            <a:ext cx="1140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NLP: Understanding User Voice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8FB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1126725" y="4508050"/>
            <a:ext cx="2498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4A67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1126725" y="5893450"/>
            <a:ext cx="249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 Vector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571500" y="1733742"/>
            <a:ext cx="4857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Belief Updates: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Matrices A &amp; b refine with every user feedback interaction.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571500" y="2773677"/>
            <a:ext cx="4857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Exploration: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Balancing "favorites" with "new discoveries" using uncertainty bounds.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571500" y="3813610"/>
            <a:ext cx="4857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Evaluation: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Mapping mood, time, and metadata instantly.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732900" y="619450"/>
            <a:ext cx="1140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Bayesian RL: Linear UCB (LinUCB)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8FB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9150" y="1190625"/>
            <a:ext cx="6142825" cy="558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571500" y="762000"/>
            <a:ext cx="520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UX Prototype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71500" y="1762125"/>
            <a:ext cx="506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b="1" i="0" lang="en-US" sz="22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Interface</a:t>
            </a:r>
            <a:r>
              <a:rPr b="1"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minimalist, spa-inspired aesthetic designed for clarity.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19" title="wellness_sanctuary_landing_ui_1768590040642.png"/>
          <p:cNvPicPr preferRelativeResize="0"/>
          <p:nvPr/>
        </p:nvPicPr>
        <p:blipFill rotWithShape="1">
          <a:blip r:embed="rId4">
            <a:alphaModFix/>
          </a:blip>
          <a:srcRect b="0" l="5555" r="5555" t="0"/>
          <a:stretch/>
        </p:blipFill>
        <p:spPr>
          <a:xfrm>
            <a:off x="6059950" y="0"/>
            <a:ext cx="602687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1000125" y="2596455"/>
            <a:ext cx="45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Calming sage-green palette.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1000125" y="3169741"/>
            <a:ext cx="45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Yoga carousels.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1000125" y="3743027"/>
            <a:ext cx="45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 feedback loop.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146" name="Google Shape;14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345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07841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8112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/>
          <p:nvPr/>
        </p:nvSpPr>
        <p:spPr>
          <a:xfrm>
            <a:off x="2281237" y="4720530"/>
            <a:ext cx="76295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B5A4B"/>
                </a:solidFill>
                <a:latin typeface="Lato"/>
                <a:ea typeface="Lato"/>
                <a:cs typeface="Lato"/>
                <a:sym typeface="Lato"/>
              </a:rPr>
              <a:t>"Personalization begins to converge rapidly, providing highly relevant yoga flows within minutes of use."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3E2D"/>
                </a:solidFill>
                <a:latin typeface="Poppins"/>
                <a:ea typeface="Poppins"/>
                <a:cs typeface="Poppins"/>
                <a:sym typeface="Poppins"/>
              </a:rPr>
              <a:t>Results: Performance &amp; Accuracy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8FB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0290"/>
            <a:ext cx="3492549" cy="273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60290"/>
            <a:ext cx="3492549" cy="273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60290"/>
            <a:ext cx="3492549" cy="273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8150" y="295081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894237" y="3665190"/>
            <a:ext cx="28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Cold Start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697475" y="4111825"/>
            <a:ext cx="324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logic combining Transformers with heuristics solves the empty-state problem.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169" name="Google Shape;16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5025" y="2950815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4672537" y="3665190"/>
            <a:ext cx="28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 Stability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4740374" y="4064665"/>
            <a:ext cx="27114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Pseudoinverse ensured stable Bayesian matrix operations during RL updates.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172" name="Google Shape;17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95081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8450836" y="3665190"/>
            <a:ext cx="28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Scaling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8518624" y="4064665"/>
            <a:ext cx="271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B5A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Normalization was critical for stable weight assignment in 19-dim vectors.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762000" y="571500"/>
            <a:ext cx="1140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D3E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Reflections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8FB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1825"/>
            <a:ext cx="5286375" cy="218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51832"/>
            <a:ext cx="5286375" cy="2188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98970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5075872" y="2037457"/>
            <a:ext cx="20402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3E2D"/>
                </a:solidFill>
                <a:latin typeface="Poppins"/>
                <a:ea typeface="Poppins"/>
                <a:cs typeface="Poppins"/>
                <a:sym typeface="Poppins"/>
              </a:rPr>
              <a:t>The Road Ahead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5062537" y="5512147"/>
            <a:ext cx="2067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A4B"/>
                </a:solidFill>
                <a:latin typeface="Lato"/>
                <a:ea typeface="Lato"/>
                <a:cs typeface="Lato"/>
                <a:sym typeface="Lato"/>
              </a:rPr>
              <a:t>Wellness Sanctuary | M Srija | 20</a:t>
            </a:r>
            <a:r>
              <a:rPr lang="en-US" sz="1050">
                <a:solidFill>
                  <a:srgbClr val="4B5A4B"/>
                </a:solidFill>
                <a:latin typeface="Lato"/>
                <a:ea typeface="Lato"/>
                <a:cs typeface="Lato"/>
                <a:sym typeface="Lato"/>
              </a:rPr>
              <a:t>26</a:t>
            </a:r>
            <a:endParaRPr sz="1050">
              <a:solidFill>
                <a:srgbClr val="4B5A4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B5A4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87" name="Google Shape;18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6562" y="314235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849391" y="3856732"/>
            <a:ext cx="47305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E2D"/>
                </a:solidFill>
                <a:latin typeface="Poppins"/>
                <a:ea typeface="Poppins"/>
                <a:cs typeface="Poppins"/>
                <a:sym typeface="Poppins"/>
              </a:rPr>
              <a:t>Biometrics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962025" y="4132957"/>
            <a:ext cx="45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A4B"/>
                </a:solidFill>
                <a:latin typeface="Lato"/>
                <a:ea typeface="Lato"/>
                <a:cs typeface="Lato"/>
                <a:sym typeface="Lato"/>
              </a:rPr>
              <a:t>Passive heart-rate detection for stress.</a:t>
            </a:r>
            <a:endParaRPr/>
          </a:p>
        </p:txBody>
      </p:sp>
      <p:pic>
        <p:nvPicPr>
          <p:cNvPr descr="image.png" id="190" name="Google Shape;19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77275" y="314235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6612016" y="3856732"/>
            <a:ext cx="47305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3E2D"/>
                </a:solidFill>
                <a:latin typeface="Poppins"/>
                <a:ea typeface="Poppins"/>
                <a:cs typeface="Poppins"/>
                <a:sym typeface="Poppins"/>
              </a:rPr>
              <a:t>Global Reach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6724650" y="4132957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A4B"/>
                </a:solidFill>
                <a:latin typeface="Lato"/>
                <a:ea typeface="Lato"/>
                <a:cs typeface="Lato"/>
                <a:sym typeface="Lato"/>
              </a:rPr>
              <a:t>Multilingual Yoga &amp; Meditation support.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